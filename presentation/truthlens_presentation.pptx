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 TITLE &amp; INTRODUCTION (Time: 0:00 - 0:30)</a:t>
            </a:r>
          </a:p>
          <a:p/>
          <a:p>
            <a:r>
              <a:t>Welcome, esteemed committee members. Today I am presenting TruthLens, an academic capstone research prototype exploring automated Natural Language Processing techniques for news classification and algorithmic trust transparency. The project integrates a fine-tuned transformer classification engine powered by FastAPI with a modern, responsive React dashboard. Beyond software implementation, our research investigates the empirical limits of linguistic classifiers when evaluated out-of-domain on benchmark datasets.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 PROBLEM STATEMENT (Time: 0:30 - 1:00)</a:t>
            </a:r>
          </a:p>
          <a:p/>
          <a:p>
            <a:r>
              <a:t>The motivation behind TruthLens centers on a major dilemma in applied AI: while misinformation spreads rapidly and automated tools are desperately sought, NLP sequence models classify writing style, not factual veracity. When commercial tools present uncalibrated softmax scores as 'confidence of truth', they inadvertently generate a false sense of security. Our project addresses this problem by designing an architecture that delivers automated inference while deliberately confronting users with empirical benchmark realities and limitations.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 PROJECT OBJECTIVES (Time: 1:00 - 1:30)</a:t>
            </a:r>
          </a:p>
          <a:p/>
          <a:p>
            <a:r>
              <a:t>TruthLens was built upon four pillars: First, building an efficient inference engine using Hugging Face Transformers and PyTorch with hardware acceleration. Second, delivering an accessible, resilient user dashboard in React with 15-second timeouts and dual health monitoring via /health and /api/health. Third, establishing algorithmic transparency by redesigning how scores and caveats are communicated. And fourth, conducting reproducible, independent benchmark evaluations rather than relying on unverified claims.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 SYSTEM ARCHITECTURE (Time: 1:30 - 2:00)</a:t>
            </a:r>
          </a:p>
          <a:p/>
          <a:p>
            <a:r>
              <a:t>The architecture is structured across three decoupled layers: At the presentation tier, a Vite-powered React SPA manages user interactions and enforces client-side timeouts. At the middle tier, FastAPI provides asynchronous request handling, schema validation via Pydantic v2, and health check route parity across /health and /api/health. At the machine learning tier, our FakeNewsClassifier service encapsulates a fine-tuned BERT transformer managed as an in-memory singleton. It leverages Apple Silicon Metal Performance Shaders for hardware acceleration with dynamic CPU fallback.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 HOW IT WORKS (Time: 2:00 - 2:30)</a:t>
            </a:r>
          </a:p>
          <a:p/>
          <a:p>
            <a:r>
              <a:t>Here is the execution trace: Step 1 validates the payload against length limits (1 to 50,000 characters) and rejects inputs that are empty, whitespace-only, or composed entirely of invisible or zero-width formatting characters. Step 2 tokenizes the text into WordPiece tokens with a 512-token ceiling. In Step 3, the tensors pass through BERT's 12 self-attention layers to produce unnormalized logits on MPS or CPU. Finally, Step 4 applies softmax to derive output scores over FAKE and REAL classes. We emphasize the bottom callout: this is mathematical text classification, not evidentiary fact-checking.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 LIVE DEMO &amp; DEMONSTRATED FAILURE CASE (Time: 2:30 - 3:15)</a:t>
            </a:r>
          </a:p>
          <a:p/>
          <a:p>
            <a:r>
              <a:t>During live testing in the recorded evaluation run, we tested two contrasting samples: Sample 1 is a scientific report about NASA's Webb telescope, which the model classified as REAL with a 100.0% Model Output Score. However, Sample 2 is a conspiracy headline asserting that the government installs microchips in tap water to control citizens' thoughts. In the observed run, the model ALSO classified this statement as REAL with a 100.0% output score. This demonstrates a critical failure case for the current classifier: because it operates solely on statistical text patterns without external evidence retrieval or fact-checking knowledge bases, high output scores cannot be treated as evidence of factual truth. This empirical outcome directly justifies why TruthLens labels scores as 'Model Output Score' rather than factual truth.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 BENCHMARK METHODOLOGY &amp; CONFUSION MATRIX (Time: 3:15 - 3:45)</a:t>
            </a:r>
          </a:p>
          <a:p/>
          <a:p>
            <a:r>
              <a:t>To test our model objectively, we benchmarked it against the LIAR dataset using the official UCSB archive verified by SHA-256 checksum. Out of 1,283 test items, 267 ambiguous half-true statements were excluded following the documented binary evaluation protocol, leaving 1,016 evaluated claims. Looking at the confusion matrix, there were 416 True Positives for FAKE and 84 True Negatives for REAL, totaling 500 correct classifications out of 1,016 (49.21%). The model predicted FAKE 792 times (77.95%), misclassifying 376 actual REAL statements as FAKE and yielding a low REAL recall of 18.26%.</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 RESULTS &amp; LIMITATIONS (Time: 3:45 - 4:20)</a:t>
            </a:r>
          </a:p>
          <a:p/>
          <a:p>
            <a:r>
              <a:t>The empirical findings are definitive: the model achieved 49.21% overall accuracy, with 500 correct predictions (416 + 84) out of 1,016 evaluated samples. This is 5.51 percentage points below the 54.72% majority-class baseline—meaning a naive heuristic that simply guessed 'FAKE' on every claim would outperform the neural network on this dataset. Furthermore, our research audits in Milestone 6 confirmed that threshold tuning only reached 52.85%, still below baseline. We distinguish measured facts from hypotheses: the absence of external evidence retrieval and score uncalibration are demonstrated structural limitations, while domain shift from undocumented training corpora remains a leading hypothesis. Presenting these numbers honestly is a core contribution of our capstone.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 CONCLUSION &amp; ROADMAP (Time: 4:20 - 5:00)</a:t>
            </a:r>
          </a:p>
          <a:p/>
          <a:p>
            <a:r>
              <a:t>In conclusion, TruthLens successfully delivered an end-to-end AI software prototype with production-grade engineering—including dual health check parity across /health and /api/health, Apple Silicon GPU acceleration, 15-second request timeouts, and 100% passing automated CI. More importantly, the project bridges the gap between software implementation and scientific responsibility by demonstrating why standalone linguistic classifiers cannot autonomously determine factual truth. Our proposed roadmap outlines the transition to Retrieval-Augmented Generation, probability calibration, and token-level explainability. Thank you for your time, and I look forward to answering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1371600"/>
            <a:ext cx="2926080" cy="365760"/>
          </a:xfrm>
          <a:prstGeom prst="roundRect">
            <a:avLst/>
          </a:prstGeom>
          <a:solidFill>
            <a:srgbClr val="082F49"/>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38BDF8"/>
                </a:solidFill>
                <a:latin typeface="Arial"/>
              </a:defRPr>
            </a:pPr>
            <a:r>
              <a:t>ACADEMIC CAPSTONE PROJECT • 2026</a:t>
            </a:r>
          </a:p>
        </p:txBody>
      </p:sp>
      <p:sp>
        <p:nvSpPr>
          <p:cNvPr id="4" name="TextBox 3"/>
          <p:cNvSpPr txBox="1"/>
          <p:nvPr/>
        </p:nvSpPr>
        <p:spPr>
          <a:xfrm>
            <a:off x="731520" y="1920240"/>
            <a:ext cx="10728655" cy="2286000"/>
          </a:xfrm>
          <a:prstGeom prst="rect">
            <a:avLst/>
          </a:prstGeom>
          <a:noFill/>
        </p:spPr>
        <p:txBody>
          <a:bodyPr wrap="square">
            <a:spAutoFit/>
          </a:bodyPr>
          <a:lstStyle/>
          <a:p>
            <a:pPr>
              <a:spcAft>
                <a:spcPts val="800"/>
              </a:spcAft>
              <a:defRPr sz="3600" b="1">
                <a:solidFill>
                  <a:srgbClr val="F8FAFC"/>
                </a:solidFill>
                <a:latin typeface="Arial"/>
              </a:defRPr>
            </a:pPr>
            <a:r>
              <a:t>TruthLens: AI Misinformation Classifier</a:t>
            </a:r>
          </a:p>
          <a:p>
            <a:pPr>
              <a:defRPr sz="1600">
                <a:solidFill>
                  <a:srgbClr val="38BDF8"/>
                </a:solidFill>
                <a:latin typeface="Arial"/>
              </a:defRPr>
            </a:pPr>
            <a:r>
              <a:t>Exploring Transformer Natural Language Processing, Algorithmic Transparency, and Empirical Benchmark Evaluation</a:t>
            </a:r>
          </a:p>
        </p:txBody>
      </p:sp>
      <p:sp>
        <p:nvSpPr>
          <p:cNvPr id="5" name="Rounded Rectangle 4"/>
          <p:cNvSpPr/>
          <p:nvPr/>
        </p:nvSpPr>
        <p:spPr>
          <a:xfrm>
            <a:off x="731520" y="4297680"/>
            <a:ext cx="3328416" cy="19202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bIns="182880" wrap="square"/>
          <a:lstStyle/>
          <a:p>
            <a:pPr algn="ctr">
              <a:defRPr sz="1400" b="1">
                <a:solidFill>
                  <a:srgbClr val="06B6D4"/>
                </a:solidFill>
                <a:latin typeface="Arial"/>
              </a:defRPr>
            </a:pPr>
            <a:r>
              <a:t>Inference Architecture</a:t>
            </a:r>
          </a:p>
          <a:p>
            <a:pPr>
              <a:defRPr sz="1100">
                <a:solidFill>
                  <a:srgbClr val="94A3B8"/>
                </a:solidFill>
                <a:latin typeface="Arial"/>
              </a:defRPr>
            </a:pPr>
            <a:r>
              <a:t>• BERT Sequence Classifier (Hugging Face)</a:t>
            </a:r>
            <a:br/>
            <a:r>
              <a:t>• Hardware execution: PyTorch MPS (Apple Silicon GPU)</a:t>
            </a:r>
            <a:br/>
            <a:r>
              <a:t>• FastAPI Async Engine &amp; Uvicorn Backend</a:t>
            </a:r>
            <a:br/>
            <a:r>
              <a:t>• Singleton lazy loading with CPU fallback</a:t>
            </a:r>
          </a:p>
        </p:txBody>
      </p:sp>
      <p:sp>
        <p:nvSpPr>
          <p:cNvPr id="6" name="Rounded Rectangle 5"/>
          <p:cNvSpPr/>
          <p:nvPr/>
        </p:nvSpPr>
        <p:spPr>
          <a:xfrm>
            <a:off x="4425696" y="4297680"/>
            <a:ext cx="3328416" cy="19202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bIns="182880" wrap="square"/>
          <a:lstStyle/>
          <a:p>
            <a:pPr algn="ctr">
              <a:defRPr sz="1400" b="1">
                <a:solidFill>
                  <a:srgbClr val="10B981"/>
                </a:solidFill>
                <a:latin typeface="Arial"/>
              </a:defRPr>
            </a:pPr>
            <a:r>
              <a:t>Modern Web Dashboard</a:t>
            </a:r>
          </a:p>
          <a:p>
            <a:pPr>
              <a:defRPr sz="1100">
                <a:solidFill>
                  <a:srgbClr val="94A3B8"/>
                </a:solidFill>
                <a:latin typeface="Arial"/>
              </a:defRPr>
            </a:pPr>
            <a:r>
              <a:t>• React 18, TypeScript, and Vite 5 SPA</a:t>
            </a:r>
            <a:br/>
            <a:r>
              <a:t>• Dual health routes (/health &amp; /api/health)</a:t>
            </a:r>
            <a:br/>
            <a:r>
              <a:t>• 15-second request timeouts &amp; resilient retry</a:t>
            </a:r>
            <a:br/>
            <a:r>
              <a:t>• Transparent Model Output Score visualizer</a:t>
            </a:r>
          </a:p>
        </p:txBody>
      </p:sp>
      <p:sp>
        <p:nvSpPr>
          <p:cNvPr id="7" name="Rounded Rectangle 6"/>
          <p:cNvSpPr/>
          <p:nvPr/>
        </p:nvSpPr>
        <p:spPr>
          <a:xfrm>
            <a:off x="8119872" y="4297680"/>
            <a:ext cx="3328416" cy="19202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bIns="182880" wrap="square"/>
          <a:lstStyle/>
          <a:p>
            <a:pPr algn="ctr">
              <a:defRPr sz="1400" b="1">
                <a:solidFill>
                  <a:srgbClr val="F59E0B"/>
                </a:solidFill>
                <a:latin typeface="Arial"/>
              </a:defRPr>
            </a:pPr>
            <a:r>
              <a:t>Audited Evaluation</a:t>
            </a:r>
          </a:p>
          <a:p>
            <a:pPr>
              <a:defRPr sz="1100">
                <a:solidFill>
                  <a:srgbClr val="94A3B8"/>
                </a:solidFill>
                <a:latin typeface="Arial"/>
              </a:defRPr>
            </a:pPr>
            <a:r>
              <a:t>• Evaluated on UCSB LIAR benchmark (1,016 rows)</a:t>
            </a:r>
            <a:br/>
            <a:r>
              <a:t>• Measured accuracy: 49.21% vs 54.72% majority baseline</a:t>
            </a:r>
            <a:br/>
            <a:r>
              <a:t>• 500 correct predictions out of 1,016 evaluated claims</a:t>
            </a:r>
            <a:br/>
            <a:r>
              <a:t>• Explicit limitation disclosures in UI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97280"/>
          </a:xfrm>
          <a:prstGeom prst="rect">
            <a:avLst/>
          </a:prstGeom>
          <a:noFill/>
        </p:spPr>
        <p:txBody>
          <a:bodyPr wrap="square" lIns="0" tIns="0" rIns="0" bIns="0">
            <a:spAutoFit/>
          </a:bodyPr>
          <a:lstStyle/>
          <a:p>
            <a:pPr>
              <a:spcAft>
                <a:spcPts val="200"/>
              </a:spcAft>
              <a:defRPr sz="1000" b="1">
                <a:solidFill>
                  <a:srgbClr val="06B6D4"/>
                </a:solidFill>
                <a:latin typeface="Arial"/>
              </a:defRPr>
            </a:pPr>
            <a:r>
              <a:t>PROBLEM CONTEXT &amp; MOTIVATION</a:t>
            </a:r>
          </a:p>
          <a:p>
            <a:pPr>
              <a:defRPr sz="2200" b="1">
                <a:solidFill>
                  <a:srgbClr val="F8FAFC"/>
                </a:solidFill>
                <a:latin typeface="Arial"/>
              </a:defRPr>
            </a:pPr>
            <a:r>
              <a:t>The Misinformation Challenge &amp; Automated Detection Pitfalls</a:t>
            </a:r>
          </a:p>
          <a:p>
            <a:pPr>
              <a:spcBef>
                <a:spcPts val="200"/>
              </a:spcBef>
              <a:defRPr sz="1100">
                <a:solidFill>
                  <a:srgbClr val="38BDF8"/>
                </a:solidFill>
                <a:latin typeface="Arial"/>
              </a:defRPr>
            </a:pPr>
            <a:r>
              <a:t>Why naive machine-learning classification cannot replace independent factual verification</a:t>
            </a:r>
          </a:p>
        </p:txBody>
      </p:sp>
      <p:sp>
        <p:nvSpPr>
          <p:cNvPr id="4" name="Rounded Rectangle 3"/>
          <p:cNvSpPr/>
          <p:nvPr/>
        </p:nvSpPr>
        <p:spPr>
          <a:xfrm>
            <a:off x="731520" y="1645920"/>
            <a:ext cx="512064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bIns="182880" wrap="square"/>
          <a:lstStyle/>
          <a:p>
            <a:pPr algn="ctr">
              <a:defRPr sz="1600" b="1">
                <a:solidFill>
                  <a:srgbClr val="F43F5E"/>
                </a:solidFill>
                <a:latin typeface="Arial"/>
              </a:defRPr>
            </a:pPr>
            <a:r>
              <a:t>The Scale of Digital Misinformation</a:t>
            </a:r>
          </a:p>
          <a:p>
            <a:br/>
            <a:pPr>
              <a:defRPr sz="1200">
                <a:solidFill>
                  <a:srgbClr val="94A3B8"/>
                </a:solidFill>
                <a:latin typeface="Arial"/>
              </a:defRPr>
            </a:pPr>
            <a:r>
              <a:t>1. Exponential Velocity:</a:t>
            </a:r>
            <a:br/>
            <a:r>
              <a:t>False claims spread up to 6x faster than verified news across digital platforms.</a:t>
            </a:r>
            <a:br/>
            <a:br/>
            <a:r>
              <a:t>2. Cognitive Impact:</a:t>
            </a:r>
            <a:br/>
            <a:r>
              <a:t>Sensationalized headlines and emotionally charged phrasing exploit human cognitive biases, leading readers to accept assertions without verifying sources.</a:t>
            </a:r>
            <a:br/>
            <a:br/>
            <a:r>
              <a:t>3. Manual Verification Bottleneck:</a:t>
            </a:r>
            <a:br/>
            <a:r>
              <a:t>Professional fact-checking organizations (e.g., PolitiFact, Snopes) require hours or days of rigorous journalistic investigation per claim, creating an urgent demand for automated assistance.</a:t>
            </a:r>
          </a:p>
        </p:txBody>
      </p:sp>
      <p:sp>
        <p:nvSpPr>
          <p:cNvPr id="5" name="Rounded Rectangle 4"/>
          <p:cNvSpPr/>
          <p:nvPr/>
        </p:nvSpPr>
        <p:spPr>
          <a:xfrm>
            <a:off x="6217920" y="1645920"/>
            <a:ext cx="5242255"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bIns="182880" wrap="square"/>
          <a:lstStyle/>
          <a:p>
            <a:pPr algn="ctr">
              <a:defRPr sz="1600" b="1">
                <a:solidFill>
                  <a:srgbClr val="F59E0B"/>
                </a:solidFill>
                <a:latin typeface="Arial"/>
              </a:defRPr>
            </a:pPr>
            <a:r>
              <a:t>The Critical NLP Misinterpretation Trap</a:t>
            </a:r>
          </a:p>
          <a:p>
            <a:br/>
            <a:pPr>
              <a:defRPr sz="1200">
                <a:solidFill>
                  <a:srgbClr val="94A3B8"/>
                </a:solidFill>
                <a:latin typeface="Arial"/>
              </a:defRPr>
            </a:pPr>
            <a:r>
              <a:t>1. Form vs. Fact:</a:t>
            </a:r>
            <a:br/>
            <a:r>
              <a:t>Language models learn statistical correlations in syntax, vocabulary, and phrasing from training datasets. They do NOT possess real-world ground truth knowledge or access live facts.</a:t>
            </a:r>
            <a:br/>
            <a:br/>
            <a:r>
              <a:t>2. The 'False Sense of Security' Risk:</a:t>
            </a:r>
            <a:br/>
            <a:r>
              <a:t>Many applications label softmax probabilities as 'confidence of truth'. Users mistake mathematical certainty over trained labels for verified factual reality.</a:t>
            </a:r>
            <a:br/>
            <a:br/>
            <a:r>
              <a:t>3. Research Motivation for TruthLens:</a:t>
            </a:r>
            <a:br/>
            <a:r>
              <a:t>Demonstrate an end-to-end classification system that balances engineering performance with scientific honesty—pairing predictions with prominent benchmark disclosures and transparent wording.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97280"/>
          </a:xfrm>
          <a:prstGeom prst="rect">
            <a:avLst/>
          </a:prstGeom>
          <a:noFill/>
        </p:spPr>
        <p:txBody>
          <a:bodyPr wrap="square" lIns="0" tIns="0" rIns="0" bIns="0">
            <a:spAutoFit/>
          </a:bodyPr>
          <a:lstStyle/>
          <a:p>
            <a:pPr>
              <a:spcAft>
                <a:spcPts val="200"/>
              </a:spcAft>
              <a:defRPr sz="1000" b="1">
                <a:solidFill>
                  <a:srgbClr val="06B6D4"/>
                </a:solidFill>
                <a:latin typeface="Arial"/>
              </a:defRPr>
            </a:pPr>
            <a:r>
              <a:t>PROJECT GOALS &amp; SCOPE</a:t>
            </a:r>
          </a:p>
          <a:p>
            <a:pPr>
              <a:defRPr sz="2200" b="1">
                <a:solidFill>
                  <a:srgbClr val="F8FAFC"/>
                </a:solidFill>
                <a:latin typeface="Arial"/>
              </a:defRPr>
            </a:pPr>
            <a:r>
              <a:t>Core Architectural &amp; Research Objectives</a:t>
            </a:r>
          </a:p>
          <a:p>
            <a:pPr>
              <a:spcBef>
                <a:spcPts val="200"/>
              </a:spcBef>
              <a:defRPr sz="1100">
                <a:solidFill>
                  <a:srgbClr val="38BDF8"/>
                </a:solidFill>
                <a:latin typeface="Arial"/>
              </a:defRPr>
            </a:pPr>
            <a:r>
              <a:t>Four pillars guiding the implementation and evaluation of TruthLens</a:t>
            </a:r>
          </a:p>
        </p:txBody>
      </p:sp>
      <p:sp>
        <p:nvSpPr>
          <p:cNvPr id="4" name="Rounded Rectangle 3"/>
          <p:cNvSpPr/>
          <p:nvPr/>
        </p:nvSpPr>
        <p:spPr>
          <a:xfrm>
            <a:off x="731520" y="1645920"/>
            <a:ext cx="5212080" cy="21031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bIns="182880" wrap="square"/>
          <a:lstStyle/>
          <a:p>
            <a:pPr algn="ctr">
              <a:defRPr sz="1500" b="1">
                <a:solidFill>
                  <a:srgbClr val="06B6D4"/>
                </a:solidFill>
                <a:latin typeface="Arial"/>
              </a:defRPr>
            </a:pPr>
            <a:r>
              <a:t>1. End-to-End Pipeline</a:t>
            </a:r>
          </a:p>
          <a:p>
            <a:pPr>
              <a:defRPr sz="1100">
                <a:solidFill>
                  <a:srgbClr val="94A3B8"/>
                </a:solidFill>
                <a:latin typeface="Arial"/>
              </a:defRPr>
            </a:pPr>
            <a:r>
              <a:t>• Build a modular inference service using fine-tuned BERT.</a:t>
            </a:r>
            <a:br/>
            <a:r>
              <a:t>• Enable PyTorch Apple Silicon GPU acceleration (MPS) with reliable CPU fallback.</a:t>
            </a:r>
            <a:br/>
            <a:r>
              <a:t>• Implement singleton caching to eliminate redundant model loading overhead.</a:t>
            </a:r>
          </a:p>
        </p:txBody>
      </p:sp>
      <p:sp>
        <p:nvSpPr>
          <p:cNvPr id="5" name="Rounded Rectangle 4"/>
          <p:cNvSpPr/>
          <p:nvPr/>
        </p:nvSpPr>
        <p:spPr>
          <a:xfrm>
            <a:off x="6217920" y="1645920"/>
            <a:ext cx="5212080" cy="21031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bIns="182880" wrap="square"/>
          <a:lstStyle/>
          <a:p>
            <a:pPr algn="ctr">
              <a:defRPr sz="1500" b="1">
                <a:solidFill>
                  <a:srgbClr val="10B981"/>
                </a:solidFill>
                <a:latin typeface="Arial"/>
              </a:defRPr>
            </a:pPr>
            <a:r>
              <a:t>2. Interactive Dashboard</a:t>
            </a:r>
          </a:p>
          <a:p>
            <a:pPr>
              <a:defRPr sz="1100">
                <a:solidFill>
                  <a:srgbClr val="94A3B8"/>
                </a:solidFill>
                <a:latin typeface="Arial"/>
              </a:defRPr>
            </a:pPr>
            <a:r>
              <a:t>• Develop a modern, responsive React 18 single-page application.</a:t>
            </a:r>
            <a:br/>
            <a:r>
              <a:t>• Provide real-time character counting, presets, and clean error alerts.</a:t>
            </a:r>
            <a:br/>
            <a:r>
              <a:t>• Enforce strict 15s request timeouts and 30s background health polling.</a:t>
            </a:r>
          </a:p>
        </p:txBody>
      </p:sp>
      <p:sp>
        <p:nvSpPr>
          <p:cNvPr id="6" name="Rounded Rectangle 5"/>
          <p:cNvSpPr/>
          <p:nvPr/>
        </p:nvSpPr>
        <p:spPr>
          <a:xfrm>
            <a:off x="731520" y="4023360"/>
            <a:ext cx="5212080" cy="21031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bIns="182880" wrap="square"/>
          <a:lstStyle/>
          <a:p>
            <a:pPr algn="ctr">
              <a:defRPr sz="1500" b="1">
                <a:solidFill>
                  <a:srgbClr val="F59E0B"/>
                </a:solidFill>
                <a:latin typeface="Arial"/>
              </a:defRPr>
            </a:pPr>
            <a:r>
              <a:t>3. Algorithmic Transparency</a:t>
            </a:r>
          </a:p>
          <a:p>
            <a:pPr>
              <a:defRPr sz="1100">
                <a:solidFill>
                  <a:srgbClr val="94A3B8"/>
                </a:solidFill>
                <a:latin typeface="Arial"/>
              </a:defRPr>
            </a:pPr>
            <a:r>
              <a:t>• Replace ambiguous 'Confidence' with 'Model Output Score'.</a:t>
            </a:r>
            <a:br/>
            <a:r>
              <a:t>• Display raw softmax distributions without claiming calibrated factuality.</a:t>
            </a:r>
            <a:br/>
            <a:r>
              <a:t>• Prominently disclose empirical limitations directly within the UI.</a:t>
            </a:r>
          </a:p>
        </p:txBody>
      </p:sp>
      <p:sp>
        <p:nvSpPr>
          <p:cNvPr id="7" name="Rounded Rectangle 6"/>
          <p:cNvSpPr/>
          <p:nvPr/>
        </p:nvSpPr>
        <p:spPr>
          <a:xfrm>
            <a:off x="6217920" y="4023360"/>
            <a:ext cx="5212080" cy="21031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bIns="182880" wrap="square"/>
          <a:lstStyle/>
          <a:p>
            <a:pPr algn="ctr">
              <a:defRPr sz="1500" b="1">
                <a:solidFill>
                  <a:srgbClr val="38BDF8"/>
                </a:solidFill>
                <a:latin typeface="Arial"/>
              </a:defRPr>
            </a:pPr>
            <a:r>
              <a:t>4. Rigorous Evaluation</a:t>
            </a:r>
          </a:p>
          <a:p>
            <a:pPr>
              <a:defRPr sz="1100">
                <a:solidFill>
                  <a:srgbClr val="94A3B8"/>
                </a:solidFill>
                <a:latin typeface="Arial"/>
              </a:defRPr>
            </a:pPr>
            <a:r>
              <a:t>• Benchmark the frozen model against the authoritative UCSB LIAR test split.</a:t>
            </a:r>
            <a:br/>
            <a:r>
              <a:t>• Dual health routes (/health &amp; /api/health) reporting API liveness and model state.</a:t>
            </a:r>
            <a:br/>
            <a:r>
              <a:t>• Implement automated GitHub Actions CI and 100% offline-runnable test suites.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97280"/>
          </a:xfrm>
          <a:prstGeom prst="rect">
            <a:avLst/>
          </a:prstGeom>
          <a:noFill/>
        </p:spPr>
        <p:txBody>
          <a:bodyPr wrap="square" lIns="0" tIns="0" rIns="0" bIns="0">
            <a:spAutoFit/>
          </a:bodyPr>
          <a:lstStyle/>
          <a:p>
            <a:pPr>
              <a:spcAft>
                <a:spcPts val="200"/>
              </a:spcAft>
              <a:defRPr sz="1000" b="1">
                <a:solidFill>
                  <a:srgbClr val="06B6D4"/>
                </a:solidFill>
                <a:latin typeface="Arial"/>
              </a:defRPr>
            </a:pPr>
            <a:r>
              <a:t>ENGINEERING DESIGN</a:t>
            </a:r>
          </a:p>
          <a:p>
            <a:pPr>
              <a:defRPr sz="2200" b="1">
                <a:solidFill>
                  <a:srgbClr val="F8FAFC"/>
                </a:solidFill>
                <a:latin typeface="Arial"/>
              </a:defRPr>
            </a:pPr>
            <a:r>
              <a:t>Decoupled Client-Server System Architecture</a:t>
            </a:r>
          </a:p>
          <a:p>
            <a:pPr>
              <a:spcBef>
                <a:spcPts val="200"/>
              </a:spcBef>
              <a:defRPr sz="1100">
                <a:solidFill>
                  <a:srgbClr val="38BDF8"/>
                </a:solidFill>
                <a:latin typeface="Arial"/>
              </a:defRPr>
            </a:pPr>
            <a:r>
              <a:t>Seamless integration of FastAPI, PyTorch MPS hardware acceleration, and React 18</a:t>
            </a:r>
          </a:p>
        </p:txBody>
      </p:sp>
      <p:sp>
        <p:nvSpPr>
          <p:cNvPr id="4" name="Rounded Rectangle 3"/>
          <p:cNvSpPr/>
          <p:nvPr/>
        </p:nvSpPr>
        <p:spPr>
          <a:xfrm>
            <a:off x="731520" y="1645920"/>
            <a:ext cx="3328416"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bIns="182880" wrap="square"/>
          <a:lstStyle/>
          <a:p>
            <a:pPr algn="ctr">
              <a:defRPr sz="1500" b="1">
                <a:solidFill>
                  <a:srgbClr val="06B6D4"/>
                </a:solidFill>
                <a:latin typeface="Arial"/>
              </a:defRPr>
            </a:pPr>
            <a:r>
              <a:t>Client Presentation Layer</a:t>
            </a:r>
          </a:p>
          <a:p>
            <a:pPr>
              <a:defRPr sz="1100">
                <a:solidFill>
                  <a:srgbClr val="94A3B8"/>
                </a:solidFill>
                <a:latin typeface="Arial"/>
              </a:defRPr>
            </a:pPr>
            <a:r>
              <a:t>Technology: React 18 + TypeScript + Vite 5</a:t>
            </a:r>
            <a:br/>
            <a:br/>
            <a:r>
              <a:t>• Component Architecture:</a:t>
            </a:r>
            <a:br/>
            <a:r>
              <a:t>  - Navbar: Health polling &amp; model indicator</a:t>
            </a:r>
            <a:br/>
            <a:r>
              <a:t>  - InputSection: Live validation &amp; presets</a:t>
            </a:r>
            <a:br/>
            <a:r>
              <a:t>  - ResultsSection: Output visualizer</a:t>
            </a:r>
            <a:br/>
            <a:r>
              <a:t>  - ErrorSection: HTTP 408/422/503 alerts</a:t>
            </a:r>
            <a:br/>
            <a:br/>
            <a:r>
              <a:t>• Resilience &amp; Accessibility:</a:t>
            </a:r>
            <a:br/>
            <a:r>
              <a:t>  - 15s AbortController request timeout</a:t>
            </a:r>
            <a:br/>
            <a:r>
              <a:t>  - 30s background health polling with cleanup</a:t>
            </a:r>
            <a:br/>
            <a:r>
              <a:t>  - ARIA live announcements for screen readers</a:t>
            </a:r>
            <a:br/>
            <a:r>
              <a:t>  - Fully responsive from 390px mobile to 4K</a:t>
            </a:r>
          </a:p>
        </p:txBody>
      </p:sp>
      <p:sp>
        <p:nvSpPr>
          <p:cNvPr id="5" name="Rounded Rectangle 4"/>
          <p:cNvSpPr/>
          <p:nvPr/>
        </p:nvSpPr>
        <p:spPr>
          <a:xfrm>
            <a:off x="4425696" y="1645920"/>
            <a:ext cx="3328416"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bIns="182880" wrap="square"/>
          <a:lstStyle/>
          <a:p>
            <a:pPr algn="ctr">
              <a:defRPr sz="1500" b="1">
                <a:solidFill>
                  <a:srgbClr val="10B981"/>
                </a:solidFill>
                <a:latin typeface="Arial"/>
              </a:defRPr>
            </a:pPr>
            <a:r>
              <a:t>FastAPI Backend Layer</a:t>
            </a:r>
          </a:p>
          <a:p>
            <a:pPr>
              <a:defRPr sz="1100">
                <a:solidFill>
                  <a:srgbClr val="94A3B8"/>
                </a:solidFill>
                <a:latin typeface="Arial"/>
              </a:defRPr>
            </a:pPr>
            <a:r>
              <a:t>Technology: FastAPI + Pydantic v2 + Uvicorn</a:t>
            </a:r>
            <a:br/>
            <a:br/>
            <a:r>
              <a:t>• Route Endpoints &amp; Parity:</a:t>
            </a:r>
            <a:br/>
            <a:r>
              <a:t>  - POST /api/predict (alias /predict)</a:t>
            </a:r>
            <a:br/>
            <a:r>
              <a:t>  - GET /health &amp; GET /api/health</a:t>
            </a:r>
            <a:br/>
            <a:br/>
            <a:r>
              <a:t>• Strict Input Validation:</a:t>
            </a:r>
            <a:br/>
            <a:r>
              <a:t>  - 1 to 50,000 character length bounds</a:t>
            </a:r>
            <a:br/>
            <a:r>
              <a:t>  - Rejects whitespace-only or solely invisible / zero-width formatting characters</a:t>
            </a:r>
            <a:br/>
            <a:r>
              <a:t>  - HTTP 422 structured error messages</a:t>
            </a:r>
            <a:br/>
            <a:br/>
            <a:r>
              <a:t>• Health &amp; Liveness Separation:</a:t>
            </a:r>
            <a:br/>
            <a:r>
              <a:t>  - Reports api_liveness without loading model</a:t>
            </a:r>
            <a:br/>
            <a:r>
              <a:t>  - Reports model_readiness ('unloaded'/'ready')</a:t>
            </a:r>
          </a:p>
        </p:txBody>
      </p:sp>
      <p:sp>
        <p:nvSpPr>
          <p:cNvPr id="6" name="Rounded Rectangle 5"/>
          <p:cNvSpPr/>
          <p:nvPr/>
        </p:nvSpPr>
        <p:spPr>
          <a:xfrm>
            <a:off x="8119872" y="1645920"/>
            <a:ext cx="3328416"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bIns="182880" wrap="square"/>
          <a:lstStyle/>
          <a:p>
            <a:pPr algn="ctr">
              <a:defRPr sz="1500" b="1">
                <a:solidFill>
                  <a:srgbClr val="F59E0B"/>
                </a:solidFill>
                <a:latin typeface="Arial"/>
              </a:defRPr>
            </a:pPr>
            <a:r>
              <a:t>Inference &amp; Deep Learning</a:t>
            </a:r>
          </a:p>
          <a:p>
            <a:pPr>
              <a:defRPr sz="1100">
                <a:solidFill>
                  <a:srgbClr val="94A3B8"/>
                </a:solidFill>
                <a:latin typeface="Arial"/>
              </a:defRPr>
            </a:pPr>
            <a:r>
              <a:t>Technology: PyTorch + Hugging Face Transformers</a:t>
            </a:r>
            <a:br/>
            <a:br/>
            <a:r>
              <a:t>• Model Specification:</a:t>
            </a:r>
            <a:br/>
            <a:r>
              <a:t>  - ID: dima806/fake-news-classifier</a:t>
            </a:r>
            <a:br/>
            <a:r>
              <a:t>  - Base: BertForSequenceClassification</a:t>
            </a:r>
            <a:br/>
            <a:r>
              <a:t>  - Tokenizer: BERT Cased (max 512 tokens)</a:t>
            </a:r>
            <a:br/>
            <a:br/>
            <a:r>
              <a:t>• Hardware Execution:</a:t>
            </a:r>
            <a:br/>
            <a:r>
              <a:t>  - Hardware acceleration via MPS (Apple Silicon)</a:t>
            </a:r>
            <a:br/>
            <a:r>
              <a:t>  - Automatic fallback to CPU on exceptions</a:t>
            </a:r>
            <a:br/>
            <a:br/>
            <a:r>
              <a:t>• Singleton Lifecycle:</a:t>
            </a:r>
            <a:br/>
            <a:r>
              <a:t>  - Lazy loading on first inference request</a:t>
            </a:r>
            <a:br/>
            <a:r>
              <a:t>  - Zero re-initialization overhead on repeats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97280"/>
          </a:xfrm>
          <a:prstGeom prst="rect">
            <a:avLst/>
          </a:prstGeom>
          <a:noFill/>
        </p:spPr>
        <p:txBody>
          <a:bodyPr wrap="square" lIns="0" tIns="0" rIns="0" bIns="0">
            <a:spAutoFit/>
          </a:bodyPr>
          <a:lstStyle/>
          <a:p>
            <a:pPr>
              <a:spcAft>
                <a:spcPts val="200"/>
              </a:spcAft>
              <a:defRPr sz="1000" b="1">
                <a:solidFill>
                  <a:srgbClr val="06B6D4"/>
                </a:solidFill>
                <a:latin typeface="Arial"/>
              </a:defRPr>
            </a:pPr>
            <a:r>
              <a:t>INFERENCE PIPELINE &amp; MECHANICS</a:t>
            </a:r>
          </a:p>
          <a:p>
            <a:pPr>
              <a:defRPr sz="2200" b="1">
                <a:solidFill>
                  <a:srgbClr val="F8FAFC"/>
                </a:solidFill>
                <a:latin typeface="Arial"/>
              </a:defRPr>
            </a:pPr>
            <a:r>
              <a:t>From Raw Text to Prediction Verdict</a:t>
            </a:r>
          </a:p>
          <a:p>
            <a:pPr>
              <a:spcBef>
                <a:spcPts val="200"/>
              </a:spcBef>
              <a:defRPr sz="1100">
                <a:solidFill>
                  <a:srgbClr val="38BDF8"/>
                </a:solidFill>
                <a:latin typeface="Arial"/>
              </a:defRPr>
            </a:pPr>
            <a:r>
              <a:t>Step-by-step trace of how TruthLens processes a submitted claim</a:t>
            </a:r>
          </a:p>
        </p:txBody>
      </p:sp>
      <p:sp>
        <p:nvSpPr>
          <p:cNvPr id="4" name="Rounded Rectangle 3"/>
          <p:cNvSpPr/>
          <p:nvPr/>
        </p:nvSpPr>
        <p:spPr>
          <a:xfrm>
            <a:off x="731520" y="1645920"/>
            <a:ext cx="2606040" cy="36576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bIns="182880" wrap="square"/>
          <a:lstStyle/>
          <a:p>
            <a:pPr algn="ctr">
              <a:defRPr sz="1300" b="1">
                <a:solidFill>
                  <a:srgbClr val="06B6D4"/>
                </a:solidFill>
                <a:latin typeface="Arial"/>
              </a:defRPr>
            </a:pPr>
            <a:r>
              <a:t>Step 1: Input Validation</a:t>
            </a:r>
          </a:p>
          <a:p>
            <a:pPr>
              <a:defRPr sz="1050">
                <a:solidFill>
                  <a:srgbClr val="94A3B8"/>
                </a:solidFill>
                <a:latin typeface="Arial"/>
              </a:defRPr>
            </a:pPr>
            <a:r>
              <a:t>• Request received at POST /api/predict (alias /predict)</a:t>
            </a:r>
            <a:br/>
            <a:r>
              <a:t>• Checks length (1 - 50,000 chars)</a:t>
            </a:r>
            <a:br/>
            <a:r>
              <a:t>• Rejects whitespace-only or solely invisible / zero-width characters (e.g. U+200B, U+FEFF)</a:t>
            </a:r>
            <a:br/>
            <a:r>
              <a:t>• Rejects empty or invalid payloads with HTTP 422</a:t>
            </a:r>
          </a:p>
        </p:txBody>
      </p:sp>
      <p:sp>
        <p:nvSpPr>
          <p:cNvPr id="5" name="Rounded Rectangle 4"/>
          <p:cNvSpPr/>
          <p:nvPr/>
        </p:nvSpPr>
        <p:spPr>
          <a:xfrm>
            <a:off x="3438144" y="1645920"/>
            <a:ext cx="2606040" cy="36576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bIns="182880" wrap="square"/>
          <a:lstStyle/>
          <a:p>
            <a:pPr algn="ctr">
              <a:defRPr sz="1300" b="1">
                <a:solidFill>
                  <a:srgbClr val="38BDF8"/>
                </a:solidFill>
                <a:latin typeface="Arial"/>
              </a:defRPr>
            </a:pPr>
            <a:r>
              <a:t>Step 2: Tokenization</a:t>
            </a:r>
          </a:p>
          <a:p>
            <a:pPr>
              <a:defRPr sz="1050">
                <a:solidFill>
                  <a:srgbClr val="94A3B8"/>
                </a:solidFill>
                <a:latin typeface="Arial"/>
              </a:defRPr>
            </a:pPr>
            <a:r>
              <a:t>• BERT WordPiece tokenizer decomposes text</a:t>
            </a:r>
            <a:br/>
            <a:r>
              <a:t>• Appends special tokens [CLS] and [SEP]</a:t>
            </a:r>
            <a:br/>
            <a:r>
              <a:t>• Truncates sequences exceeding 512 tokens</a:t>
            </a:r>
            <a:br/>
            <a:r>
              <a:t>• Generates input_ids and attention_mask tensors</a:t>
            </a:r>
          </a:p>
        </p:txBody>
      </p:sp>
      <p:sp>
        <p:nvSpPr>
          <p:cNvPr id="6" name="Rounded Rectangle 5"/>
          <p:cNvSpPr/>
          <p:nvPr/>
        </p:nvSpPr>
        <p:spPr>
          <a:xfrm>
            <a:off x="6144768" y="1645920"/>
            <a:ext cx="2606040" cy="36576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bIns="182880" wrap="square"/>
          <a:lstStyle/>
          <a:p>
            <a:pPr algn="ctr">
              <a:defRPr sz="1300" b="1">
                <a:solidFill>
                  <a:srgbClr val="F59E0B"/>
                </a:solidFill>
                <a:latin typeface="Arial"/>
              </a:defRPr>
            </a:pPr>
            <a:r>
              <a:t>Step 3: Forward Pass &amp; Logits</a:t>
            </a:r>
          </a:p>
          <a:p>
            <a:pPr>
              <a:defRPr sz="1050">
                <a:solidFill>
                  <a:srgbClr val="94A3B8"/>
                </a:solidFill>
                <a:latin typeface="Arial"/>
              </a:defRPr>
            </a:pPr>
            <a:r>
              <a:t>• Tensors dispatched to active device (MPS or CPU)</a:t>
            </a:r>
            <a:br/>
            <a:r>
              <a:t>• 12 transformer encoder layers compute contextual embeddings</a:t>
            </a:r>
            <a:br/>
            <a:r>
              <a:t>• Linear classification head projects [CLS] pooler output</a:t>
            </a:r>
            <a:br/>
            <a:r>
              <a:t>• Generates 2 unnormalized raw logits: [z_fake, z_real]</a:t>
            </a:r>
          </a:p>
        </p:txBody>
      </p:sp>
      <p:sp>
        <p:nvSpPr>
          <p:cNvPr id="7" name="Rounded Rectangle 6"/>
          <p:cNvSpPr/>
          <p:nvPr/>
        </p:nvSpPr>
        <p:spPr>
          <a:xfrm>
            <a:off x="8851392" y="1645920"/>
            <a:ext cx="2606040" cy="36576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bIns="182880" wrap="square"/>
          <a:lstStyle/>
          <a:p>
            <a:pPr algn="ctr">
              <a:defRPr sz="1300" b="1">
                <a:solidFill>
                  <a:srgbClr val="10B981"/>
                </a:solidFill>
                <a:latin typeface="Arial"/>
              </a:defRPr>
            </a:pPr>
            <a:r>
              <a:t>Step 4: Softmax &amp; Verdict</a:t>
            </a:r>
          </a:p>
          <a:p>
            <a:pPr>
              <a:defRPr sz="1050">
                <a:solidFill>
                  <a:srgbClr val="94A3B8"/>
                </a:solidFill>
                <a:latin typeface="Arial"/>
              </a:defRPr>
            </a:pPr>
            <a:r>
              <a:t>• Softmax normalizes logits: p_i = exp(z_i) / Σ exp(z_j)</a:t>
            </a:r>
            <a:br/>
            <a:r>
              <a:t>• Dynamically resolves class mapping (index 0=FAKE, 1=REAL)</a:t>
            </a:r>
            <a:br/>
            <a:r>
              <a:t>• Returns JSON payload with predicted label and class probabilities</a:t>
            </a:r>
            <a:br/>
            <a:r>
              <a:t>• UI renders verdict card and benchmark limitation notices</a:t>
            </a:r>
          </a:p>
        </p:txBody>
      </p:sp>
      <p:sp>
        <p:nvSpPr>
          <p:cNvPr id="8" name="Rounded Rectangle 7"/>
          <p:cNvSpPr/>
          <p:nvPr/>
        </p:nvSpPr>
        <p:spPr>
          <a:xfrm>
            <a:off x="731520" y="5486400"/>
            <a:ext cx="10728655" cy="822960"/>
          </a:xfrm>
          <a:prstGeom prst="roundRect">
            <a:avLst/>
          </a:prstGeom>
          <a:solidFill>
            <a:srgbClr val="1A243D"/>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bIns="182880" wrap="square"/>
          <a:lstStyle/>
          <a:p>
            <a:pPr algn="ctr">
              <a:defRPr sz="1100" b="1">
                <a:solidFill>
                  <a:srgbClr val="F59E0B"/>
                </a:solidFill>
                <a:latin typeface="Arial"/>
              </a:defRPr>
            </a:pPr>
            <a:r>
              <a:t>CRUCIAL DISTINCTION: CLASSIFICATION VS. FACT-CHECKING</a:t>
            </a:r>
          </a:p>
          <a:p>
            <a:pPr>
              <a:defRPr sz="1050">
                <a:solidFill>
                  <a:srgbClr val="F8FAFC"/>
                </a:solidFill>
                <a:latin typeface="Arial"/>
              </a:defRPr>
            </a:pPr>
            <a:r>
              <a:t>The pipeline evaluates whether text exhibits linguistic patterns correlating with fine-tuned training labels. It does NOT search the web, query knowledge bases, or verify external evidence.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97280"/>
          </a:xfrm>
          <a:prstGeom prst="rect">
            <a:avLst/>
          </a:prstGeom>
          <a:noFill/>
        </p:spPr>
        <p:txBody>
          <a:bodyPr wrap="square" lIns="0" tIns="0" rIns="0" bIns="0">
            <a:spAutoFit/>
          </a:bodyPr>
          <a:lstStyle/>
          <a:p>
            <a:pPr>
              <a:spcAft>
                <a:spcPts val="200"/>
              </a:spcAft>
              <a:defRPr sz="1000" b="1">
                <a:solidFill>
                  <a:srgbClr val="06B6D4"/>
                </a:solidFill>
                <a:latin typeface="Arial"/>
              </a:defRPr>
            </a:pPr>
            <a:r>
              <a:t>LIVE APPLICATION DEMONSTRATION</a:t>
            </a:r>
          </a:p>
          <a:p>
            <a:pPr>
              <a:defRPr sz="2200" b="1">
                <a:solidFill>
                  <a:srgbClr val="F8FAFC"/>
                </a:solidFill>
                <a:latin typeface="Arial"/>
              </a:defRPr>
            </a:pPr>
            <a:r>
              <a:t>Demonstrating the Model's Behavior on Diverse Samples</a:t>
            </a:r>
          </a:p>
          <a:p>
            <a:pPr>
              <a:spcBef>
                <a:spcPts val="200"/>
              </a:spcBef>
              <a:defRPr sz="1100">
                <a:solidFill>
                  <a:srgbClr val="38BDF8"/>
                </a:solidFill>
                <a:latin typeface="Arial"/>
              </a:defRPr>
            </a:pPr>
            <a:r>
              <a:t>Why high confidence on false claims illustrates an architectural limitation rather than factual proof</a:t>
            </a:r>
          </a:p>
        </p:txBody>
      </p:sp>
      <p:sp>
        <p:nvSpPr>
          <p:cNvPr id="4" name="Rounded Rectangle 3"/>
          <p:cNvSpPr/>
          <p:nvPr/>
        </p:nvSpPr>
        <p:spPr>
          <a:xfrm>
            <a:off x="731520" y="1645920"/>
            <a:ext cx="5212080" cy="39319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bIns="182880" wrap="square"/>
          <a:lstStyle/>
          <a:p>
            <a:pPr algn="ctr">
              <a:defRPr sz="1400" b="1">
                <a:solidFill>
                  <a:srgbClr val="10B981"/>
                </a:solidFill>
                <a:latin typeface="Arial"/>
              </a:defRPr>
            </a:pPr>
            <a:r>
              <a:t>Demo Sample 1: Scientific Excerpt</a:t>
            </a:r>
          </a:p>
          <a:p>
            <a:pPr>
              <a:defRPr sz="1100">
                <a:solidFill>
                  <a:srgbClr val="94A3B8"/>
                </a:solidFill>
                <a:latin typeface="Arial"/>
              </a:defRPr>
            </a:pPr>
            <a:r>
              <a:t>Input Statement:</a:t>
            </a:r>
            <a:br/>
            <a:r>
              <a:t>"NASA confirmed today that the James Webb Space Telescope detected water vapor in the atmosphere of a rocky exoplanet orbiting within its host star habitable zone."</a:t>
            </a:r>
            <a:br/>
            <a:br/>
            <a:r>
              <a:t>Observed Live Output:</a:t>
            </a:r>
            <a:br/>
            <a:r>
              <a:t>• Predicted Label: REAL</a:t>
            </a:r>
            <a:br/>
            <a:r>
              <a:t>• Model Output Score: 100.0% (REAL: 100.0%, FAKE: 0.0%)</a:t>
            </a:r>
            <a:br/>
            <a:r>
              <a:t>• Inference Execution: PyTorch on Apple Silicon MPS</a:t>
            </a:r>
            <a:br/>
            <a:br/>
            <a:r>
              <a:t>Observed Result:</a:t>
            </a:r>
            <a:br/>
            <a:r>
              <a:t>The model classified this structured scientific statement as REAL with 100.0% model output score.</a:t>
            </a:r>
          </a:p>
        </p:txBody>
      </p:sp>
      <p:sp>
        <p:nvSpPr>
          <p:cNvPr id="5" name="Rounded Rectangle 4"/>
          <p:cNvSpPr/>
          <p:nvPr/>
        </p:nvSpPr>
        <p:spPr>
          <a:xfrm>
            <a:off x="6217920" y="1645920"/>
            <a:ext cx="5242255" cy="39319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bIns="182880" wrap="square"/>
          <a:lstStyle/>
          <a:p>
            <a:pPr algn="ctr">
              <a:defRPr sz="1400" b="1">
                <a:solidFill>
                  <a:srgbClr val="F43F5E"/>
                </a:solidFill>
                <a:latin typeface="Arial"/>
              </a:defRPr>
            </a:pPr>
            <a:r>
              <a:t>Demo Sample 2: Conspiracy Headline</a:t>
            </a:r>
          </a:p>
          <a:p>
            <a:pPr>
              <a:defRPr sz="1100">
                <a:solidFill>
                  <a:srgbClr val="94A3B8"/>
                </a:solidFill>
                <a:latin typeface="Arial"/>
              </a:defRPr>
            </a:pPr>
            <a:r>
              <a:t>Input Statement:</a:t>
            </a:r>
            <a:br/>
            <a:r>
              <a:t>"SHOCKING PROOF: Government secretly installing microchips in tap water to control thoughts of citizens across nationwide network! Whistleblowers reveal explosive hidden documents!"</a:t>
            </a:r>
            <a:br/>
            <a:br/>
            <a:r>
              <a:t>Observed Live Output:</a:t>
            </a:r>
            <a:br/>
            <a:r>
              <a:t>• Predicted Label: REAL</a:t>
            </a:r>
            <a:br/>
            <a:r>
              <a:t>• Model Output Score: 100.0% (REAL: 100.0%, FAKE: 0.0%)</a:t>
            </a:r>
            <a:br/>
            <a:r>
              <a:t>• Inference Execution: PyTorch on Apple Silicon MPS</a:t>
            </a:r>
            <a:br/>
            <a:br/>
            <a:r>
              <a:t>Demonstrated Classifier Failure Case:</a:t>
            </a:r>
            <a:br/>
            <a:r>
              <a:t>Despite making an unfounded conspiracy claim, the model returned REAL with 100.0% score. This observed run demonstrates a failure case for the current classifier: isolated statistical text classifiers without external evidence retrieval or verification mechanisms cannot determine factual reality.</a:t>
            </a:r>
          </a:p>
        </p:txBody>
      </p:sp>
      <p:sp>
        <p:nvSpPr>
          <p:cNvPr id="6" name="Rounded Rectangle 5"/>
          <p:cNvSpPr/>
          <p:nvPr/>
        </p:nvSpPr>
        <p:spPr>
          <a:xfrm>
            <a:off x="731520" y="5715000"/>
            <a:ext cx="10728655" cy="685800"/>
          </a:xfrm>
          <a:prstGeom prst="roundRect">
            <a:avLst/>
          </a:prstGeom>
          <a:solidFill>
            <a:srgbClr val="1A243D"/>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bIns="182880" wrap="square"/>
          <a:lstStyle/>
          <a:p>
            <a:pPr algn="ctr">
              <a:defRPr sz="1100">
                <a:solidFill>
                  <a:srgbClr val="38BDF8"/>
                </a:solidFill>
                <a:latin typeface="Arial"/>
              </a:defRPr>
            </a:pPr>
            <a:r>
              <a:t>UI Mitigation in TruthLens: The dashboard prominently warns the user that 'Model Output Score' reflects statistical label preference, and displays our LIAR benchmark disclosure directly beneath the verdict.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97280"/>
          </a:xfrm>
          <a:prstGeom prst="rect">
            <a:avLst/>
          </a:prstGeom>
          <a:noFill/>
        </p:spPr>
        <p:txBody>
          <a:bodyPr wrap="square" lIns="0" tIns="0" rIns="0" bIns="0">
            <a:spAutoFit/>
          </a:bodyPr>
          <a:lstStyle/>
          <a:p>
            <a:pPr>
              <a:spcAft>
                <a:spcPts val="200"/>
              </a:spcAft>
              <a:defRPr sz="1000" b="1">
                <a:solidFill>
                  <a:srgbClr val="06B6D4"/>
                </a:solidFill>
                <a:latin typeface="Arial"/>
              </a:defRPr>
            </a:pPr>
            <a:r>
              <a:t>RIGOROUS OUT-OF-DOMAIN EVALUATION</a:t>
            </a:r>
          </a:p>
          <a:p>
            <a:pPr>
              <a:defRPr sz="2200" b="1">
                <a:solidFill>
                  <a:srgbClr val="F8FAFC"/>
                </a:solidFill>
                <a:latin typeface="Arial"/>
              </a:defRPr>
            </a:pPr>
            <a:r>
              <a:t>LIAR Benchmark Methodology &amp; Confusion Matrix</a:t>
            </a:r>
          </a:p>
          <a:p>
            <a:pPr>
              <a:spcBef>
                <a:spcPts val="200"/>
              </a:spcBef>
              <a:defRPr sz="1100">
                <a:solidFill>
                  <a:srgbClr val="38BDF8"/>
                </a:solidFill>
                <a:latin typeface="Arial"/>
              </a:defRPr>
            </a:pPr>
            <a:r>
              <a:t>Evaluating transfer capability on 1,016 political claims from William Yang Wang (ACL 2017)</a:t>
            </a:r>
          </a:p>
        </p:txBody>
      </p:sp>
      <p:sp>
        <p:nvSpPr>
          <p:cNvPr id="4" name="Rounded Rectangle 3"/>
          <p:cNvSpPr/>
          <p:nvPr/>
        </p:nvSpPr>
        <p:spPr>
          <a:xfrm>
            <a:off x="731520" y="1645920"/>
            <a:ext cx="512064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bIns="182880" wrap="square"/>
          <a:lstStyle/>
          <a:p>
            <a:pPr algn="ctr">
              <a:defRPr sz="1500" b="1">
                <a:solidFill>
                  <a:srgbClr val="06B6D4"/>
                </a:solidFill>
                <a:latin typeface="Arial"/>
              </a:defRPr>
            </a:pPr>
            <a:r>
              <a:t>Benchmark Protocol &amp; Accounting</a:t>
            </a:r>
          </a:p>
          <a:p>
            <a:pPr>
              <a:defRPr sz="1100">
                <a:solidFill>
                  <a:srgbClr val="94A3B8"/>
                </a:solidFill>
                <a:latin typeface="Arial"/>
              </a:defRPr>
            </a:pPr>
            <a:r>
              <a:t>• Authoritative Source:</a:t>
            </a:r>
            <a:br/>
            <a:r>
              <a:t>  UCSB LIAR Original Publication Archive (ACL 2017)</a:t>
            </a:r>
            <a:br/>
            <a:r>
              <a:t>  Verified SHA-256 Checksum:</a:t>
            </a:r>
            <a:br/>
            <a:r>
              <a:t>  611c1addad919743dde15822b87a60bfb760d8f85597f25289e34621800654c7</a:t>
            </a:r>
            <a:br/>
            <a:br/>
            <a:r>
              <a:t>• Row Accounting (test.tsv):</a:t>
            </a:r>
            <a:br/>
            <a:r>
              <a:t>  - Total Test Rows: 1,283</a:t>
            </a:r>
            <a:br/>
            <a:r>
              <a:t>  - Excluded 'half-true' Rows: 267 (ambiguous)</a:t>
            </a:r>
            <a:br/>
            <a:r>
              <a:t>  - Evaluated Rows: 1,016 (pure text statement only)</a:t>
            </a:r>
            <a:br/>
            <a:br/>
            <a:r>
              <a:t>• Operational Binary Mapping:</a:t>
            </a:r>
            <a:br/>
            <a:r>
              <a:t>  - FAKE: false (250) + pants-fire (92) + barely-true (214) = 556 (54.72%)</a:t>
            </a:r>
            <a:br/>
            <a:r>
              <a:t>  - REAL: true (211) + mostly-true (249) = 460 (45.28%)</a:t>
            </a:r>
            <a:br/>
            <a:br/>
            <a:r>
              <a:t>• Reproducibility:</a:t>
            </a:r>
            <a:br/>
            <a:r>
              <a:t>  Automated script backend/scripts/evaluate_model.py</a:t>
            </a:r>
            <a:br/>
            <a:r>
              <a:t>  Outputs compact prediction pairings for external auditing.</a:t>
            </a:r>
          </a:p>
        </p:txBody>
      </p:sp>
      <p:sp>
        <p:nvSpPr>
          <p:cNvPr id="5" name="Rounded Rectangle 4"/>
          <p:cNvSpPr/>
          <p:nvPr/>
        </p:nvSpPr>
        <p:spPr>
          <a:xfrm>
            <a:off x="6217920" y="1645920"/>
            <a:ext cx="5242255"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bIns="182880" wrap="square"/>
          <a:lstStyle/>
          <a:p>
            <a:pPr algn="ctr">
              <a:defRPr sz="1500" b="1">
                <a:solidFill>
                  <a:srgbClr val="38BDF8"/>
                </a:solidFill>
                <a:latin typeface="Arial"/>
              </a:defRPr>
            </a:pPr>
            <a:r>
              <a:t>Measured Confusion Matrix (N = 1,016)</a:t>
            </a:r>
          </a:p>
          <a:p>
            <a:br/>
            <a:pPr>
              <a:defRPr sz="1100">
                <a:solidFill>
                  <a:srgbClr val="94A3B8"/>
                </a:solidFill>
                <a:latin typeface="Arial"/>
              </a:defRPr>
            </a:pPr>
            <a:r>
              <a:t>Matrix Layout (Rows: Actual Class | Columns: Predicted Class):</a:t>
            </a:r>
            <a:br/>
            <a:br/>
            <a:r>
              <a:t>                     Predicted FAKE      Predicted REAL      Total Actual</a:t>
            </a:r>
            <a:br/>
            <a:r>
              <a:t>Actual FAKE:              416 (TP)            140 (FN)           556</a:t>
            </a:r>
            <a:br/>
            <a:r>
              <a:t>Actual REAL:              376 (FP)             84 (TN)           460</a:t>
            </a:r>
            <a:br/>
            <a:r>
              <a:t>Total Predicted:          792                 224              1,016</a:t>
            </a:r>
            <a:br/>
            <a:br/>
            <a:r>
              <a:t>Correct Predictions: 416 (TP) + 84 (TN) = 500 / 1,016 (49.21%)</a:t>
            </a:r>
            <a:br/>
            <a:br/>
            <a:r>
              <a:t>Critical Empirical Takeaways:</a:t>
            </a:r>
            <a:br/>
            <a:r>
              <a:t>1. Extreme False Positive Rate:</a:t>
            </a:r>
            <a:br/>
            <a:r>
              <a:t>   376 out of 460 actual REAL claims were falsely classified as FAKE.</a:t>
            </a:r>
            <a:br/>
            <a:r>
              <a:t>2. Skewed Prediction Distribution:</a:t>
            </a:r>
            <a:br/>
            <a:r>
              <a:t>   The model predicted FAKE on 792 out of 1,016 claims (77.95%).</a:t>
            </a:r>
            <a:br/>
            <a:r>
              <a:t>3. Low REAL Recall:</a:t>
            </a:r>
            <a:br/>
            <a:r>
              <a:t>   The model correctly identified only 84 REAL claims (18.26% recall).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97280"/>
          </a:xfrm>
          <a:prstGeom prst="rect">
            <a:avLst/>
          </a:prstGeom>
          <a:noFill/>
        </p:spPr>
        <p:txBody>
          <a:bodyPr wrap="square" lIns="0" tIns="0" rIns="0" bIns="0">
            <a:spAutoFit/>
          </a:bodyPr>
          <a:lstStyle/>
          <a:p>
            <a:pPr>
              <a:spcAft>
                <a:spcPts val="200"/>
              </a:spcAft>
              <a:defRPr sz="1000" b="1">
                <a:solidFill>
                  <a:srgbClr val="06B6D4"/>
                </a:solidFill>
                <a:latin typeface="Arial"/>
              </a:defRPr>
            </a:pPr>
            <a:r>
              <a:t>MEASURED METRICS &amp; ACADEMIC HONESTY</a:t>
            </a:r>
          </a:p>
          <a:p>
            <a:pPr>
              <a:defRPr sz="2200" b="1">
                <a:solidFill>
                  <a:srgbClr val="F8FAFC"/>
                </a:solidFill>
                <a:latin typeface="Arial"/>
              </a:defRPr>
            </a:pPr>
            <a:r>
              <a:t>Benchmark Results vs. Majority Baseline</a:t>
            </a:r>
          </a:p>
          <a:p>
            <a:pPr>
              <a:spcBef>
                <a:spcPts val="200"/>
              </a:spcBef>
              <a:defRPr sz="1100">
                <a:solidFill>
                  <a:srgbClr val="38BDF8"/>
                </a:solidFill>
                <a:latin typeface="Arial"/>
              </a:defRPr>
            </a:pPr>
            <a:r>
              <a:t>Documenting the gap between headline claims and out-of-domain reality</a:t>
            </a:r>
          </a:p>
        </p:txBody>
      </p:sp>
      <p:sp>
        <p:nvSpPr>
          <p:cNvPr id="4" name="Rounded Rectangle 3"/>
          <p:cNvSpPr/>
          <p:nvPr/>
        </p:nvSpPr>
        <p:spPr>
          <a:xfrm>
            <a:off x="731520" y="1645920"/>
            <a:ext cx="512064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bIns="182880" wrap="square"/>
          <a:lstStyle/>
          <a:p>
            <a:pPr algn="ctr">
              <a:defRPr sz="1500" b="1">
                <a:solidFill>
                  <a:srgbClr val="F59E0B"/>
                </a:solidFill>
                <a:latin typeface="Arial"/>
              </a:defRPr>
            </a:pPr>
            <a:r>
              <a:t>Empirical Evaluation Metrics</a:t>
            </a:r>
          </a:p>
          <a:p>
            <a:br/>
            <a:pPr>
              <a:defRPr sz="1100">
                <a:solidFill>
                  <a:srgbClr val="94A3B8"/>
                </a:solidFill>
                <a:latin typeface="Arial"/>
              </a:defRPr>
            </a:pPr>
            <a:r>
              <a:t>Metric                     Score       Majority Baseline Comparison</a:t>
            </a:r>
            <a:br/>
            <a:r>
              <a:t>----------------------------------------------------------</a:t>
            </a:r>
            <a:br/>
            <a:r>
              <a:t>Overall Accuracy           49.21%      BELOW Baseline (54.72%)</a:t>
            </a:r>
            <a:br/>
            <a:r>
              <a:t>                                       (500 / 1,016 correct predictions)</a:t>
            </a:r>
            <a:br/>
            <a:r>
              <a:t>Majority Baseline          54.72%      (Naive 'Always FAKE' heuristic)</a:t>
            </a:r>
            <a:br/>
            <a:r>
              <a:t>Macro F1                   0.4314      Unweighted mean of class F1s</a:t>
            </a:r>
            <a:br/>
            <a:r>
              <a:t>FAKE Precision / Recall    0.5253 / 0.7482</a:t>
            </a:r>
            <a:br/>
            <a:r>
              <a:t>REAL Precision / Recall    0.3750 / 0.1826 (Identifies 84 of 460)</a:t>
            </a:r>
            <a:br/>
            <a:br/>
            <a:r>
              <a:t>Controlled Research Audits (Milestone 6):</a:t>
            </a:r>
            <a:br/>
            <a:r>
              <a:t>• Threshold Tuning: Shifting boundary from 0.50 to 0.13 marginally raised accuracy to 52.85%, still below the 54.72% majority baseline.</a:t>
            </a:r>
            <a:br/>
            <a:r>
              <a:t>• Candidate Screening: Tested RoBERTa and LIAR-specialized BERT on validation; neither exceeded validation majority baseline (59.46%).</a:t>
            </a:r>
          </a:p>
        </p:txBody>
      </p:sp>
      <p:sp>
        <p:nvSpPr>
          <p:cNvPr id="5" name="Rounded Rectangle 4"/>
          <p:cNvSpPr/>
          <p:nvPr/>
        </p:nvSpPr>
        <p:spPr>
          <a:xfrm>
            <a:off x="6217920" y="1645920"/>
            <a:ext cx="5242255"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bIns="182880" wrap="square"/>
          <a:lstStyle/>
          <a:p>
            <a:pPr algn="ctr">
              <a:defRPr sz="1500" b="1">
                <a:solidFill>
                  <a:srgbClr val="F43F5E"/>
                </a:solidFill>
                <a:latin typeface="Arial"/>
              </a:defRPr>
            </a:pPr>
            <a:r>
              <a:t>Findings vs. Hypothesized Causes</a:t>
            </a:r>
          </a:p>
          <a:p>
            <a:br/>
            <a:pPr>
              <a:defRPr sz="1100">
                <a:solidFill>
                  <a:srgbClr val="94A3B8"/>
                </a:solidFill>
                <a:latin typeface="Arial"/>
              </a:defRPr>
            </a:pPr>
            <a:r>
              <a:t>1. Measured Outcome Below Baseline (Verified Finding):</a:t>
            </a:r>
            <a:br/>
            <a:r>
              <a:t>The model's 49.21% accuracy falls below the 54.72% majority-class baseline on the evaluated 1,016-claim LIAR test subset.</a:t>
            </a:r>
            <a:br/>
            <a:br/>
            <a:r>
              <a:t>2. Absence of External Evidence (Architectural Limitation):</a:t>
            </a:r>
            <a:br/>
            <a:r>
              <a:t>Isolated language models evaluate lexical and syntactic patterns without external retrieval; factual assertions cannot be verified from phrasing alone.</a:t>
            </a:r>
            <a:br/>
            <a:br/>
            <a:r>
              <a:t>3. Uncalibrated Model Output Scores (Measured Limitation):</a:t>
            </a:r>
            <a:br/>
            <a:r>
              <a:t>Softmax output scores frequently saturate near 1.0 or 0.0, which cannot be interpreted as calibrated probabilities of factual truth.</a:t>
            </a:r>
            <a:br/>
            <a:br/>
            <a:r>
              <a:t>4. Domain Shift &amp; Training Provenance (Leading Hypothesis):</a:t>
            </a:r>
            <a:br/>
            <a:r>
              <a:t>Because the model author did not document training corpora or preprocessing scripts, domain divergence on short political statements is a hypothesized factor, not a proven cause.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97280"/>
          </a:xfrm>
          <a:prstGeom prst="rect">
            <a:avLst/>
          </a:prstGeom>
          <a:noFill/>
        </p:spPr>
        <p:txBody>
          <a:bodyPr wrap="square" lIns="0" tIns="0" rIns="0" bIns="0">
            <a:spAutoFit/>
          </a:bodyPr>
          <a:lstStyle/>
          <a:p>
            <a:pPr>
              <a:spcAft>
                <a:spcPts val="200"/>
              </a:spcAft>
              <a:defRPr sz="1000" b="1">
                <a:solidFill>
                  <a:srgbClr val="06B6D4"/>
                </a:solidFill>
                <a:latin typeface="Arial"/>
              </a:defRPr>
            </a:pPr>
            <a:r>
              <a:t>SUMMARY &amp; FUTURE ROADMAP</a:t>
            </a:r>
          </a:p>
          <a:p>
            <a:pPr>
              <a:defRPr sz="2200" b="1">
                <a:solidFill>
                  <a:srgbClr val="F8FAFC"/>
                </a:solidFill>
                <a:latin typeface="Arial"/>
              </a:defRPr>
            </a:pPr>
            <a:r>
              <a:t>Project Contributions &amp; Research Directions</a:t>
            </a:r>
          </a:p>
          <a:p>
            <a:pPr>
              <a:spcBef>
                <a:spcPts val="200"/>
              </a:spcBef>
              <a:defRPr sz="1100">
                <a:solidFill>
                  <a:srgbClr val="38BDF8"/>
                </a:solidFill>
                <a:latin typeface="Arial"/>
              </a:defRPr>
            </a:pPr>
            <a:r>
              <a:t>What TruthLens accomplished and the technical roadmap for real-world reliability</a:t>
            </a:r>
          </a:p>
        </p:txBody>
      </p:sp>
      <p:sp>
        <p:nvSpPr>
          <p:cNvPr id="4" name="Rounded Rectangle 3"/>
          <p:cNvSpPr/>
          <p:nvPr/>
        </p:nvSpPr>
        <p:spPr>
          <a:xfrm>
            <a:off x="731520" y="1645920"/>
            <a:ext cx="512064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bIns="182880" wrap="square"/>
          <a:lstStyle/>
          <a:p>
            <a:pPr algn="ctr">
              <a:defRPr sz="1500" b="1">
                <a:solidFill>
                  <a:srgbClr val="10B981"/>
                </a:solidFill>
                <a:latin typeface="Arial"/>
              </a:defRPr>
            </a:pPr>
            <a:r>
              <a:t>What TruthLens Successfully Built</a:t>
            </a:r>
          </a:p>
          <a:p>
            <a:br/>
            <a:pPr>
              <a:defRPr sz="1150">
                <a:solidFill>
                  <a:srgbClr val="94A3B8"/>
                </a:solidFill>
                <a:latin typeface="Arial"/>
              </a:defRPr>
            </a:pPr>
            <a:r>
              <a:t>✓ Complete, decoupled full-stack prototype:</a:t>
            </a:r>
            <a:br/>
            <a:r>
              <a:t>  FastAPI backend with PyTorch MPS GPU inference and React 18 responsive dashboard.</a:t>
            </a:r>
            <a:br/>
            <a:br/>
            <a:r>
              <a:t>✓ Production reliability engineering:</a:t>
            </a:r>
            <a:br/>
            <a:r>
              <a:t>  Lazy singleton loading, 15s request timeouts, 30s background health polling,   and robust invisible character input validation.</a:t>
            </a:r>
            <a:br/>
            <a:br/>
            <a:r>
              <a:t>✓ 100% automated verification &amp; CI:</a:t>
            </a:r>
            <a:br/>
            <a:r>
              <a:t>  73 backend tests (offline-verified), 12 frontend tests, and automated GitHub Actions CI.</a:t>
            </a:r>
            <a:br/>
            <a:br/>
            <a:r>
              <a:t>✓ Trust transparency pioneer:</a:t>
            </a:r>
            <a:br/>
            <a:r>
              <a:t>  First-class UI disclosures separating model preference scores from factual truth.</a:t>
            </a:r>
          </a:p>
        </p:txBody>
      </p:sp>
      <p:sp>
        <p:nvSpPr>
          <p:cNvPr id="5" name="Rounded Rectangle 4"/>
          <p:cNvSpPr/>
          <p:nvPr/>
        </p:nvSpPr>
        <p:spPr>
          <a:xfrm>
            <a:off x="6217920" y="1645920"/>
            <a:ext cx="5242255"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bIns="182880" wrap="square"/>
          <a:lstStyle/>
          <a:p>
            <a:pPr algn="ctr">
              <a:defRPr sz="1500" b="1">
                <a:solidFill>
                  <a:srgbClr val="06B6D4"/>
                </a:solidFill>
                <a:latin typeface="Arial"/>
              </a:defRPr>
            </a:pPr>
            <a:r>
              <a:t>Roadmap for Future Research</a:t>
            </a:r>
          </a:p>
          <a:p>
            <a:br/>
            <a:pPr>
              <a:defRPr sz="1150">
                <a:solidFill>
                  <a:srgbClr val="94A3B8"/>
                </a:solidFill>
                <a:latin typeface="Arial"/>
              </a:defRPr>
            </a:pPr>
            <a:r>
              <a:t>1. Retrieval-Augmented Generation (RAG):</a:t>
            </a:r>
            <a:br/>
            <a:r>
              <a:t>Integrate search APIs and ClaimReview fact-check databases to retrieve verified context before classifying claims.</a:t>
            </a:r>
            <a:br/>
            <a:br/>
            <a:r>
              <a:t>2. Temperature Scaling &amp; Calibration:</a:t>
            </a:r>
            <a:br/>
            <a:r>
              <a:t>Apply Platt scaling or temperature scaling on validation logits to align output scores with actual empirical accuracy.</a:t>
            </a:r>
            <a:br/>
            <a:br/>
            <a:r>
              <a:t>3. Explainable AI (XAI) Attribution:</a:t>
            </a:r>
            <a:br/>
            <a:r>
              <a:t>Implement LIME or SHAP token saliency heatmaps to show users which words influenced the decision.</a:t>
            </a:r>
            <a:br/>
            <a:br/>
            <a:r>
              <a:t>4. Source Reputation Heuristics:</a:t>
            </a:r>
            <a:br/>
            <a:r>
              <a:t>Incorporate publisher credibility signals and domain reputation metadata.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